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8" r:id="rId3"/>
    <p:sldId id="267" r:id="rId4"/>
    <p:sldId id="257" r:id="rId5"/>
    <p:sldId id="263" r:id="rId6"/>
    <p:sldId id="262" r:id="rId7"/>
    <p:sldId id="264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4" d="100"/>
          <a:sy n="74" d="100"/>
        </p:scale>
        <p:origin x="1013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13" Type="http://schemas.openxmlformats.org/officeDocument/2006/relationships/image" Target="../media/image21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12" Type="http://schemas.openxmlformats.org/officeDocument/2006/relationships/image" Target="../media/image20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11" Type="http://schemas.openxmlformats.org/officeDocument/2006/relationships/image" Target="../media/image19.png"/><Relationship Id="rId5" Type="http://schemas.openxmlformats.org/officeDocument/2006/relationships/image" Target="../media/image13.png"/><Relationship Id="rId10" Type="http://schemas.openxmlformats.org/officeDocument/2006/relationships/image" Target="../media/image18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Relationship Id="rId14" Type="http://schemas.openxmlformats.org/officeDocument/2006/relationships/image" Target="../media/image2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13" Type="http://schemas.openxmlformats.org/officeDocument/2006/relationships/image" Target="../media/image34.png"/><Relationship Id="rId18" Type="http://schemas.openxmlformats.org/officeDocument/2006/relationships/image" Target="../media/image39.png"/><Relationship Id="rId26" Type="http://schemas.openxmlformats.org/officeDocument/2006/relationships/image" Target="../media/image47.png"/><Relationship Id="rId3" Type="http://schemas.openxmlformats.org/officeDocument/2006/relationships/image" Target="../media/image24.png"/><Relationship Id="rId21" Type="http://schemas.openxmlformats.org/officeDocument/2006/relationships/image" Target="../media/image42.png"/><Relationship Id="rId7" Type="http://schemas.openxmlformats.org/officeDocument/2006/relationships/image" Target="../media/image28.png"/><Relationship Id="rId12" Type="http://schemas.openxmlformats.org/officeDocument/2006/relationships/image" Target="../media/image33.png"/><Relationship Id="rId17" Type="http://schemas.openxmlformats.org/officeDocument/2006/relationships/image" Target="../media/image38.png"/><Relationship Id="rId25" Type="http://schemas.openxmlformats.org/officeDocument/2006/relationships/image" Target="../media/image46.png"/><Relationship Id="rId2" Type="http://schemas.openxmlformats.org/officeDocument/2006/relationships/image" Target="../media/image23.png"/><Relationship Id="rId16" Type="http://schemas.openxmlformats.org/officeDocument/2006/relationships/image" Target="../media/image37.png"/><Relationship Id="rId20" Type="http://schemas.openxmlformats.org/officeDocument/2006/relationships/image" Target="../media/image4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7.png"/><Relationship Id="rId11" Type="http://schemas.openxmlformats.org/officeDocument/2006/relationships/image" Target="../media/image32.png"/><Relationship Id="rId24" Type="http://schemas.openxmlformats.org/officeDocument/2006/relationships/image" Target="../media/image45.png"/><Relationship Id="rId5" Type="http://schemas.openxmlformats.org/officeDocument/2006/relationships/image" Target="../media/image26.png"/><Relationship Id="rId15" Type="http://schemas.openxmlformats.org/officeDocument/2006/relationships/image" Target="../media/image36.png"/><Relationship Id="rId23" Type="http://schemas.openxmlformats.org/officeDocument/2006/relationships/image" Target="../media/image44.png"/><Relationship Id="rId28" Type="http://schemas.openxmlformats.org/officeDocument/2006/relationships/image" Target="../media/image49.png"/><Relationship Id="rId10" Type="http://schemas.openxmlformats.org/officeDocument/2006/relationships/image" Target="../media/image31.png"/><Relationship Id="rId19" Type="http://schemas.openxmlformats.org/officeDocument/2006/relationships/image" Target="../media/image40.png"/><Relationship Id="rId4" Type="http://schemas.openxmlformats.org/officeDocument/2006/relationships/image" Target="../media/image25.png"/><Relationship Id="rId9" Type="http://schemas.openxmlformats.org/officeDocument/2006/relationships/image" Target="../media/image30.png"/><Relationship Id="rId14" Type="http://schemas.openxmlformats.org/officeDocument/2006/relationships/image" Target="../media/image35.png"/><Relationship Id="rId22" Type="http://schemas.openxmlformats.org/officeDocument/2006/relationships/image" Target="../media/image43.png"/><Relationship Id="rId27" Type="http://schemas.openxmlformats.org/officeDocument/2006/relationships/image" Target="../media/image48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.png"/><Relationship Id="rId13" Type="http://schemas.openxmlformats.org/officeDocument/2006/relationships/image" Target="../media/image60.png"/><Relationship Id="rId18" Type="http://schemas.openxmlformats.org/officeDocument/2006/relationships/image" Target="../media/image65.png"/><Relationship Id="rId3" Type="http://schemas.openxmlformats.org/officeDocument/2006/relationships/image" Target="../media/image51.png"/><Relationship Id="rId21" Type="http://schemas.openxmlformats.org/officeDocument/2006/relationships/image" Target="../media/image68.png"/><Relationship Id="rId7" Type="http://schemas.openxmlformats.org/officeDocument/2006/relationships/image" Target="../media/image55.png"/><Relationship Id="rId12" Type="http://schemas.openxmlformats.org/officeDocument/2006/relationships/image" Target="../media/image59.png"/><Relationship Id="rId17" Type="http://schemas.openxmlformats.org/officeDocument/2006/relationships/image" Target="../media/image64.png"/><Relationship Id="rId2" Type="http://schemas.openxmlformats.org/officeDocument/2006/relationships/image" Target="../media/image50.png"/><Relationship Id="rId16" Type="http://schemas.openxmlformats.org/officeDocument/2006/relationships/image" Target="../media/image63.png"/><Relationship Id="rId20" Type="http://schemas.openxmlformats.org/officeDocument/2006/relationships/image" Target="../media/image6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4.png"/><Relationship Id="rId11" Type="http://schemas.openxmlformats.org/officeDocument/2006/relationships/image" Target="../media/image4.png"/><Relationship Id="rId5" Type="http://schemas.openxmlformats.org/officeDocument/2006/relationships/image" Target="../media/image53.png"/><Relationship Id="rId15" Type="http://schemas.openxmlformats.org/officeDocument/2006/relationships/image" Target="../media/image62.png"/><Relationship Id="rId10" Type="http://schemas.openxmlformats.org/officeDocument/2006/relationships/image" Target="../media/image58.png"/><Relationship Id="rId19" Type="http://schemas.openxmlformats.org/officeDocument/2006/relationships/image" Target="../media/image66.png"/><Relationship Id="rId4" Type="http://schemas.openxmlformats.org/officeDocument/2006/relationships/image" Target="../media/image52.png"/><Relationship Id="rId9" Type="http://schemas.openxmlformats.org/officeDocument/2006/relationships/image" Target="../media/image57.png"/><Relationship Id="rId14" Type="http://schemas.openxmlformats.org/officeDocument/2006/relationships/image" Target="../media/image61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4.png"/><Relationship Id="rId13" Type="http://schemas.openxmlformats.org/officeDocument/2006/relationships/image" Target="../media/image79.png"/><Relationship Id="rId18" Type="http://schemas.openxmlformats.org/officeDocument/2006/relationships/image" Target="../media/image84.png"/><Relationship Id="rId3" Type="http://schemas.openxmlformats.org/officeDocument/2006/relationships/image" Target="../media/image70.png"/><Relationship Id="rId7" Type="http://schemas.openxmlformats.org/officeDocument/2006/relationships/image" Target="../media/image4.png"/><Relationship Id="rId12" Type="http://schemas.openxmlformats.org/officeDocument/2006/relationships/image" Target="../media/image78.png"/><Relationship Id="rId17" Type="http://schemas.openxmlformats.org/officeDocument/2006/relationships/image" Target="../media/image83.png"/><Relationship Id="rId2" Type="http://schemas.openxmlformats.org/officeDocument/2006/relationships/image" Target="../media/image69.png"/><Relationship Id="rId16" Type="http://schemas.openxmlformats.org/officeDocument/2006/relationships/image" Target="../media/image82.png"/><Relationship Id="rId20" Type="http://schemas.openxmlformats.org/officeDocument/2006/relationships/image" Target="../media/image8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3.png"/><Relationship Id="rId11" Type="http://schemas.openxmlformats.org/officeDocument/2006/relationships/image" Target="../media/image77.png"/><Relationship Id="rId5" Type="http://schemas.openxmlformats.org/officeDocument/2006/relationships/image" Target="../media/image72.png"/><Relationship Id="rId15" Type="http://schemas.openxmlformats.org/officeDocument/2006/relationships/image" Target="../media/image81.png"/><Relationship Id="rId10" Type="http://schemas.openxmlformats.org/officeDocument/2006/relationships/image" Target="../media/image76.png"/><Relationship Id="rId19" Type="http://schemas.openxmlformats.org/officeDocument/2006/relationships/image" Target="../media/image85.png"/><Relationship Id="rId4" Type="http://schemas.openxmlformats.org/officeDocument/2006/relationships/image" Target="../media/image71.png"/><Relationship Id="rId9" Type="http://schemas.openxmlformats.org/officeDocument/2006/relationships/image" Target="../media/image75.png"/><Relationship Id="rId14" Type="http://schemas.openxmlformats.org/officeDocument/2006/relationships/image" Target="../media/image80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13" Type="http://schemas.openxmlformats.org/officeDocument/2006/relationships/image" Target="../media/image97.png"/><Relationship Id="rId3" Type="http://schemas.openxmlformats.org/officeDocument/2006/relationships/image" Target="../media/image88.png"/><Relationship Id="rId7" Type="http://schemas.openxmlformats.org/officeDocument/2006/relationships/image" Target="../media/image92.png"/><Relationship Id="rId12" Type="http://schemas.openxmlformats.org/officeDocument/2006/relationships/image" Target="../media/image96.png"/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1.png"/><Relationship Id="rId11" Type="http://schemas.openxmlformats.org/officeDocument/2006/relationships/image" Target="../media/image95.png"/><Relationship Id="rId5" Type="http://schemas.openxmlformats.org/officeDocument/2006/relationships/image" Target="../media/image90.png"/><Relationship Id="rId15" Type="http://schemas.openxmlformats.org/officeDocument/2006/relationships/image" Target="../media/image99.png"/><Relationship Id="rId10" Type="http://schemas.openxmlformats.org/officeDocument/2006/relationships/image" Target="../media/image94.png"/><Relationship Id="rId4" Type="http://schemas.openxmlformats.org/officeDocument/2006/relationships/image" Target="../media/image89.png"/><Relationship Id="rId9" Type="http://schemas.openxmlformats.org/officeDocument/2006/relationships/image" Target="../media/image93.png"/><Relationship Id="rId14" Type="http://schemas.openxmlformats.org/officeDocument/2006/relationships/image" Target="../media/image9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1.png"/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3.png"/><Relationship Id="rId5" Type="http://schemas.openxmlformats.org/officeDocument/2006/relationships/image" Target="../media/image102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4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28383" y="1009650"/>
            <a:ext cx="4877841" cy="4572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5775" y="1796504"/>
            <a:ext cx="3505200" cy="2857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5775" y="6200775"/>
            <a:ext cx="11220450" cy="2667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85775" y="2272754"/>
            <a:ext cx="6259688" cy="9599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779"/>
              </a:lnSpc>
            </a:pPr>
            <a:r>
              <a:rPr sz="3150" b="0" i="0" u="none">
                <a:solidFill>
                  <a:srgbClr val="FFFFFF"/>
                </a:solidFill>
                <a:latin typeface="Poppins ExtraBold"/>
              </a:rPr>
              <a:t>AI-Based </a:t>
            </a:r>
            <a:r>
              <a:rPr sz="3150" b="0" i="0" u="none">
                <a:solidFill>
                  <a:srgbClr val="10B981"/>
                </a:solidFill>
                <a:latin typeface="Poppins ExtraBold"/>
              </a:rPr>
              <a:t>Nutritional Assessment</a:t>
            </a:r>
            <a:r>
              <a:rPr sz="3150" b="0" i="0" u="none">
                <a:solidFill>
                  <a:srgbClr val="FFFFFF"/>
                </a:solidFill>
                <a:latin typeface="Poppins ExtraBold"/>
              </a:rPr>
              <a:t> System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5775" y="3385095"/>
            <a:ext cx="5961608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94A3B8"/>
                </a:solidFill>
                <a:latin typeface="Inter"/>
              </a:rPr>
              <a:t>Deficiency Detection &amp; Personalized Meal Planning — Fuel Your Body Right, Every Single Day 🥦✨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37908" y="1019175"/>
            <a:ext cx="4858791" cy="455295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5306" y="1877466"/>
            <a:ext cx="128587" cy="12382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46001" y="4251870"/>
            <a:ext cx="190500" cy="1905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09600" y="4499520"/>
            <a:ext cx="1663303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350"/>
              </a:lnSpc>
            </a:pPr>
            <a:r>
              <a:rPr sz="900" b="0" i="0" u="none" dirty="0" err="1">
                <a:solidFill>
                  <a:srgbClr val="E2E8F0"/>
                </a:solidFill>
                <a:latin typeface="Inter Medium"/>
              </a:rPr>
              <a:t>XGBoost</a:t>
            </a:r>
            <a:r>
              <a:rPr lang="en-US" sz="900" b="0" i="0" u="none" dirty="0">
                <a:solidFill>
                  <a:srgbClr val="E2E8F0"/>
                </a:solidFill>
                <a:latin typeface="Inter Medium"/>
              </a:rPr>
              <a:t> &amp; RF</a:t>
            </a:r>
            <a:r>
              <a:rPr sz="900" b="0" i="0" u="none" dirty="0">
                <a:solidFill>
                  <a:srgbClr val="E2E8F0"/>
                </a:solidFill>
                <a:latin typeface="Inter Medium"/>
              </a:rPr>
              <a:t> ML Models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395067" y="4251870"/>
            <a:ext cx="142875" cy="1905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2634853" y="4499520"/>
            <a:ext cx="1663303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350"/>
              </a:lnSpc>
            </a:pPr>
            <a:r>
              <a:rPr sz="900" b="0" i="0" u="none">
                <a:solidFill>
                  <a:srgbClr val="E2E8F0"/>
                </a:solidFill>
                <a:latin typeface="Inter Medium"/>
              </a:rPr>
              <a:t>Lab Report OCR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406032" y="4251870"/>
            <a:ext cx="171450" cy="1905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4660106" y="4499520"/>
            <a:ext cx="1663303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350"/>
              </a:lnSpc>
            </a:pPr>
            <a:r>
              <a:rPr sz="900" b="0" i="0" u="none">
                <a:solidFill>
                  <a:srgbClr val="E2E8F0"/>
                </a:solidFill>
                <a:latin typeface="Inter Medium"/>
              </a:rPr>
              <a:t>Persona Meal Plans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image.png">
            <a:extLst>
              <a:ext uri="{FF2B5EF4-FFF2-40B4-BE49-F238E27FC236}">
                <a16:creationId xmlns:a16="http://schemas.microsoft.com/office/drawing/2014/main" id="{46684357-814D-C808-0B9B-E60053FE06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71120" y="-111760"/>
            <a:ext cx="12334240" cy="7081520"/>
          </a:xfrm>
          <a:prstGeom prst="rect">
            <a:avLst/>
          </a:prstGeom>
        </p:spPr>
      </p:pic>
      <p:pic>
        <p:nvPicPr>
          <p:cNvPr id="5" name="Picture 4" descr="image.png">
            <a:extLst>
              <a:ext uri="{FF2B5EF4-FFF2-40B4-BE49-F238E27FC236}">
                <a16:creationId xmlns:a16="http://schemas.microsoft.com/office/drawing/2014/main" id="{827A698F-6494-DC7E-2B72-82B5BFDEC5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775" y="329565"/>
            <a:ext cx="2295525" cy="276225"/>
          </a:xfrm>
          <a:prstGeom prst="rect">
            <a:avLst/>
          </a:prstGeom>
        </p:spPr>
      </p:pic>
      <p:pic>
        <p:nvPicPr>
          <p:cNvPr id="8" name="Picture 7" descr="image.png">
            <a:extLst>
              <a:ext uri="{FF2B5EF4-FFF2-40B4-BE49-F238E27FC236}">
                <a16:creationId xmlns:a16="http://schemas.microsoft.com/office/drawing/2014/main" id="{3664FAEA-47B4-88E8-6738-5E9DC46DC11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9825" y="5071020"/>
            <a:ext cx="5476875" cy="600075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22A71431-BED1-9FB4-3675-A69D58EFC392}"/>
              </a:ext>
            </a:extLst>
          </p:cNvPr>
          <p:cNvSpPr txBox="1"/>
          <p:nvPr/>
        </p:nvSpPr>
        <p:spPr>
          <a:xfrm>
            <a:off x="904875" y="2174230"/>
            <a:ext cx="5120640" cy="1809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25" b="1" i="0" u="none">
                <a:solidFill>
                  <a:srgbClr val="F87171"/>
                </a:solidFill>
                <a:latin typeface="Outfit"/>
              </a:rPr>
              <a:t>The Problem We Solve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59FE6D1-B766-9744-71EE-0BF72BE6E38B}"/>
              </a:ext>
            </a:extLst>
          </p:cNvPr>
          <p:cNvSpPr txBox="1"/>
          <p:nvPr/>
        </p:nvSpPr>
        <p:spPr>
          <a:xfrm>
            <a:off x="904875" y="4099470"/>
            <a:ext cx="5120640" cy="1809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25" b="1" i="0" u="none">
                <a:solidFill>
                  <a:srgbClr val="34D399"/>
                </a:solidFill>
                <a:latin typeface="Outfit"/>
              </a:rPr>
              <a:t>The NutriAI Solution</a:t>
            </a:r>
          </a:p>
        </p:txBody>
      </p:sp>
      <p:pic>
        <p:nvPicPr>
          <p:cNvPr id="17" name="Picture 16" descr="image.png">
            <a:extLst>
              <a:ext uri="{FF2B5EF4-FFF2-40B4-BE49-F238E27FC236}">
                <a16:creationId xmlns:a16="http://schemas.microsoft.com/office/drawing/2014/main" id="{42C19F6E-B150-1D7F-8C4C-72E973B13A2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2193280"/>
            <a:ext cx="142875" cy="142875"/>
          </a:xfrm>
          <a:prstGeom prst="rect">
            <a:avLst/>
          </a:prstGeom>
        </p:spPr>
      </p:pic>
      <p:pic>
        <p:nvPicPr>
          <p:cNvPr id="18" name="Picture 17" descr="image.png">
            <a:extLst>
              <a:ext uri="{FF2B5EF4-FFF2-40B4-BE49-F238E27FC236}">
                <a16:creationId xmlns:a16="http://schemas.microsoft.com/office/drawing/2014/main" id="{82125341-6687-4213-DB9B-CEEBC07301D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800" y="4118520"/>
            <a:ext cx="142875" cy="142875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7CDDF927-9FEA-B70C-4371-066C99F14397}"/>
              </a:ext>
            </a:extLst>
          </p:cNvPr>
          <p:cNvSpPr txBox="1"/>
          <p:nvPr/>
        </p:nvSpPr>
        <p:spPr>
          <a:xfrm>
            <a:off x="6410325" y="5223420"/>
            <a:ext cx="2450306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 dirty="0">
                <a:solidFill>
                  <a:srgbClr val="FFFFFF"/>
                </a:solidFill>
                <a:latin typeface="Outfit"/>
              </a:rPr>
              <a:t>Pathology to Plate Integration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2F3E607-CB04-1394-F330-F0E329D9C8B7}"/>
              </a:ext>
            </a:extLst>
          </p:cNvPr>
          <p:cNvSpPr txBox="1"/>
          <p:nvPr/>
        </p:nvSpPr>
        <p:spPr>
          <a:xfrm>
            <a:off x="6410325" y="5394870"/>
            <a:ext cx="2333625" cy="123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0" i="0" u="none" dirty="0">
                <a:solidFill>
                  <a:srgbClr val="A7F3D0"/>
                </a:solidFill>
                <a:latin typeface="Plus Jakarta Sans"/>
              </a:rPr>
              <a:t>OCR Clinical Extraction &amp; ML Analytics Pipeline</a:t>
            </a:r>
          </a:p>
        </p:txBody>
      </p:sp>
      <p:pic>
        <p:nvPicPr>
          <p:cNvPr id="21" name="Picture 20" descr="image.png">
            <a:extLst>
              <a:ext uri="{FF2B5EF4-FFF2-40B4-BE49-F238E27FC236}">
                <a16:creationId xmlns:a16="http://schemas.microsoft.com/office/drawing/2014/main" id="{AE21EF07-F687-E306-F27B-C8078F39904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5800" y="2469505"/>
            <a:ext cx="114300" cy="152400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C7F23DFB-1EC6-E0CC-C3EA-1236329A33B9}"/>
              </a:ext>
            </a:extLst>
          </p:cNvPr>
          <p:cNvSpPr txBox="1"/>
          <p:nvPr/>
        </p:nvSpPr>
        <p:spPr>
          <a:xfrm>
            <a:off x="914400" y="2450455"/>
            <a:ext cx="4867275" cy="3464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sz="975" b="1" i="0" u="none" dirty="0">
                <a:solidFill>
                  <a:srgbClr val="D1FAE5"/>
                </a:solidFill>
                <a:latin typeface="Plus Jakarta Sans"/>
              </a:rPr>
              <a:t>Hidden Deficiencies:</a:t>
            </a:r>
            <a:r>
              <a:rPr sz="975" b="0" i="0" u="none" dirty="0">
                <a:solidFill>
                  <a:srgbClr val="D1FAE5"/>
                </a:solidFill>
                <a:latin typeface="Plus Jakarta Sans"/>
              </a:rPr>
              <a:t> Vitamin B12, Iron, D3 &amp; Calcium go unnoticed, causing chronic fatigue.</a:t>
            </a:r>
          </a:p>
        </p:txBody>
      </p:sp>
      <p:pic>
        <p:nvPicPr>
          <p:cNvPr id="23" name="Picture 22" descr="image.png">
            <a:extLst>
              <a:ext uri="{FF2B5EF4-FFF2-40B4-BE49-F238E27FC236}">
                <a16:creationId xmlns:a16="http://schemas.microsoft.com/office/drawing/2014/main" id="{DD4FA51B-12E0-5652-4142-EFA74971055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5800" y="2892176"/>
            <a:ext cx="114300" cy="152400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F3E8F6FC-4671-0192-DBC6-A08A6B6950F6}"/>
              </a:ext>
            </a:extLst>
          </p:cNvPr>
          <p:cNvSpPr txBox="1"/>
          <p:nvPr/>
        </p:nvSpPr>
        <p:spPr>
          <a:xfrm>
            <a:off x="914400" y="2873126"/>
            <a:ext cx="4867275" cy="3464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sz="975" b="1" i="0" u="none">
                <a:solidFill>
                  <a:srgbClr val="D1FAE5"/>
                </a:solidFill>
                <a:latin typeface="Plus Jakarta Sans"/>
              </a:rPr>
              <a:t>Idle Pathology Reports:</a:t>
            </a:r>
            <a:r>
              <a:rPr sz="975" b="0" i="0" u="none">
                <a:solidFill>
                  <a:srgbClr val="D1FAE5"/>
                </a:solidFill>
                <a:latin typeface="Plus Jakarta Sans"/>
              </a:rPr>
              <a:t> Lab PDFs stay sitting in drawers instead of shaping weekly groceries.</a:t>
            </a:r>
          </a:p>
        </p:txBody>
      </p:sp>
      <p:pic>
        <p:nvPicPr>
          <p:cNvPr id="25" name="Picture 24" descr="image.png">
            <a:extLst>
              <a:ext uri="{FF2B5EF4-FFF2-40B4-BE49-F238E27FC236}">
                <a16:creationId xmlns:a16="http://schemas.microsoft.com/office/drawing/2014/main" id="{430C9104-0513-C135-5B3A-009C241890F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85800" y="3314848"/>
            <a:ext cx="114300" cy="152400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388B564D-8293-CC0E-EA01-0BD1D58550FD}"/>
              </a:ext>
            </a:extLst>
          </p:cNvPr>
          <p:cNvSpPr txBox="1"/>
          <p:nvPr/>
        </p:nvSpPr>
        <p:spPr>
          <a:xfrm>
            <a:off x="914400" y="3295798"/>
            <a:ext cx="4867275" cy="3464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sz="975" b="1" i="0" u="none">
                <a:solidFill>
                  <a:srgbClr val="D1FAE5"/>
                </a:solidFill>
                <a:latin typeface="Plus Jakarta Sans"/>
              </a:rPr>
              <a:t>Generic Diets Fail:</a:t>
            </a:r>
            <a:r>
              <a:rPr sz="975" b="0" i="0" u="none">
                <a:solidFill>
                  <a:srgbClr val="D1FAE5"/>
                </a:solidFill>
                <a:latin typeface="Plus Jakarta Sans"/>
              </a:rPr>
              <a:t> One-size-fits-all advice ignores your blood biomarkers &amp; food choices.</a:t>
            </a:r>
          </a:p>
        </p:txBody>
      </p:sp>
      <p:pic>
        <p:nvPicPr>
          <p:cNvPr id="27" name="Picture 26" descr="image.png">
            <a:extLst>
              <a:ext uri="{FF2B5EF4-FFF2-40B4-BE49-F238E27FC236}">
                <a16:creationId xmlns:a16="http://schemas.microsoft.com/office/drawing/2014/main" id="{E1901EBE-C95B-E834-E738-D54562D4C71E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85800" y="4394745"/>
            <a:ext cx="133350" cy="152400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36E2DDE8-3C60-76A7-2C0E-557B3AAEA8F9}"/>
              </a:ext>
            </a:extLst>
          </p:cNvPr>
          <p:cNvSpPr txBox="1"/>
          <p:nvPr/>
        </p:nvSpPr>
        <p:spPr>
          <a:xfrm>
            <a:off x="933450" y="4375695"/>
            <a:ext cx="4848225" cy="3464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sz="975" b="1" i="0" u="none">
                <a:solidFill>
                  <a:srgbClr val="D1FAE5"/>
                </a:solidFill>
                <a:latin typeface="Plus Jakarta Sans"/>
              </a:rPr>
              <a:t>Machine Learning Diagnostics:</a:t>
            </a:r>
            <a:r>
              <a:rPr sz="975" b="0" i="0" u="none">
                <a:solidFill>
                  <a:srgbClr val="D1FAE5"/>
                </a:solidFill>
                <a:latin typeface="Plus Jakarta Sans"/>
              </a:rPr>
              <a:t> XGBoost models accurately score deficiency risks from symptoms.</a:t>
            </a:r>
          </a:p>
        </p:txBody>
      </p:sp>
      <p:pic>
        <p:nvPicPr>
          <p:cNvPr id="29" name="Picture 28" descr="image.png">
            <a:extLst>
              <a:ext uri="{FF2B5EF4-FFF2-40B4-BE49-F238E27FC236}">
                <a16:creationId xmlns:a16="http://schemas.microsoft.com/office/drawing/2014/main" id="{5C19B2F9-9926-DD5E-D44F-8050C7A7AFA7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85800" y="4817417"/>
            <a:ext cx="133350" cy="152400"/>
          </a:xfrm>
          <a:prstGeom prst="rect">
            <a:avLst/>
          </a:prstGeom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A4BA7BE9-6A0A-0D06-3D14-0B7A84F56BF6}"/>
              </a:ext>
            </a:extLst>
          </p:cNvPr>
          <p:cNvSpPr txBox="1"/>
          <p:nvPr/>
        </p:nvSpPr>
        <p:spPr>
          <a:xfrm>
            <a:off x="933450" y="4798367"/>
            <a:ext cx="4848225" cy="3464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sz="975" b="1" i="0" u="none">
                <a:solidFill>
                  <a:srgbClr val="D1FAE5"/>
                </a:solidFill>
                <a:latin typeface="Plus Jakarta Sans"/>
              </a:rPr>
              <a:t>OCR Pathology Parser:</a:t>
            </a:r>
            <a:r>
              <a:rPr sz="975" b="0" i="0" u="none">
                <a:solidFill>
                  <a:srgbClr val="D1FAE5"/>
                </a:solidFill>
                <a:latin typeface="Plus Jakarta Sans"/>
              </a:rPr>
              <a:t> Automatically extracts blood biomarkers from uploaded PDF test reports.</a:t>
            </a:r>
          </a:p>
        </p:txBody>
      </p:sp>
      <p:pic>
        <p:nvPicPr>
          <p:cNvPr id="31" name="Picture 30" descr="image.png">
            <a:extLst>
              <a:ext uri="{FF2B5EF4-FFF2-40B4-BE49-F238E27FC236}">
                <a16:creationId xmlns:a16="http://schemas.microsoft.com/office/drawing/2014/main" id="{30FD92CD-6D08-2044-B8F0-FF6846C0F3BD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85800" y="5240089"/>
            <a:ext cx="133350" cy="152400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44999097-E441-64C7-4B5D-4372C1165E8B}"/>
              </a:ext>
            </a:extLst>
          </p:cNvPr>
          <p:cNvSpPr txBox="1"/>
          <p:nvPr/>
        </p:nvSpPr>
        <p:spPr>
          <a:xfrm>
            <a:off x="933450" y="5221039"/>
            <a:ext cx="4848225" cy="3464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sz="975" b="1" i="0" u="none" dirty="0">
                <a:solidFill>
                  <a:srgbClr val="D1FAE5"/>
                </a:solidFill>
                <a:latin typeface="Plus Jakarta Sans"/>
              </a:rPr>
              <a:t>Persona Meal Planning:</a:t>
            </a:r>
            <a:r>
              <a:rPr sz="975" b="0" i="0" u="none" dirty="0">
                <a:solidFill>
                  <a:srgbClr val="D1FAE5"/>
                </a:solidFill>
                <a:latin typeface="Plus Jakarta Sans"/>
              </a:rPr>
              <a:t> Converts risk scores into 7-day personalized plans &amp; shopping lists.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09EF978-6F97-8E39-83F2-71288E575B5D}"/>
              </a:ext>
            </a:extLst>
          </p:cNvPr>
          <p:cNvSpPr txBox="1"/>
          <p:nvPr/>
        </p:nvSpPr>
        <p:spPr>
          <a:xfrm>
            <a:off x="485775" y="742950"/>
            <a:ext cx="11706225" cy="3885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060"/>
              </a:lnSpc>
            </a:pPr>
            <a:r>
              <a:rPr sz="2550" b="1" i="0" u="none" dirty="0">
                <a:solidFill>
                  <a:srgbClr val="F0FDF4"/>
                </a:solidFill>
                <a:latin typeface="Outfit"/>
              </a:rPr>
              <a:t>Turning Clinical Data Into Everyday Nutrition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BA2F15D-F4D6-5A7C-9410-1BCC0D6229C9}"/>
              </a:ext>
            </a:extLst>
          </p:cNvPr>
          <p:cNvSpPr txBox="1"/>
          <p:nvPr/>
        </p:nvSpPr>
        <p:spPr>
          <a:xfrm>
            <a:off x="485775" y="1169640"/>
            <a:ext cx="1122045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125" b="0" i="0" u="none">
                <a:solidFill>
                  <a:srgbClr val="A7F3D0"/>
                </a:solidFill>
                <a:latin typeface="Plus Jakarta Sans"/>
              </a:rPr>
              <a:t>Bridging the Gap Between Pathology Reports &amp; Daily Eating Habits 🥑</a:t>
            </a:r>
          </a:p>
        </p:txBody>
      </p:sp>
      <p:pic>
        <p:nvPicPr>
          <p:cNvPr id="36" name="Picture 35" descr="image.png">
            <a:extLst>
              <a:ext uri="{FF2B5EF4-FFF2-40B4-BE49-F238E27FC236}">
                <a16:creationId xmlns:a16="http://schemas.microsoft.com/office/drawing/2014/main" id="{025B6FF4-314D-02C5-8D00-D2B9741621FC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98170" y="403175"/>
            <a:ext cx="100012" cy="123825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420EDD33-3E2D-111F-3615-F775314D3563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181726" y="2012305"/>
            <a:ext cx="5646480" cy="37887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25220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>
            <a:extLst>
              <a:ext uri="{FF2B5EF4-FFF2-40B4-BE49-F238E27FC236}">
                <a16:creationId xmlns:a16="http://schemas.microsoft.com/office/drawing/2014/main" id="{4590E452-9F2E-D968-9E93-9876A161DD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22281" y="-127819"/>
            <a:ext cx="12672687" cy="7128387"/>
          </a:xfrm>
          <a:prstGeom prst="rect">
            <a:avLst/>
          </a:prstGeom>
        </p:spPr>
      </p:pic>
      <p:pic>
        <p:nvPicPr>
          <p:cNvPr id="3" name="Picture 2" descr="image.png">
            <a:extLst>
              <a:ext uri="{FF2B5EF4-FFF2-40B4-BE49-F238E27FC236}">
                <a16:creationId xmlns:a16="http://schemas.microsoft.com/office/drawing/2014/main" id="{A76FB24F-B3FD-92DD-4026-B571859D77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775" y="390525"/>
            <a:ext cx="2738437" cy="285750"/>
          </a:xfrm>
          <a:prstGeom prst="rect">
            <a:avLst/>
          </a:prstGeom>
        </p:spPr>
      </p:pic>
      <p:pic>
        <p:nvPicPr>
          <p:cNvPr id="4" name="Picture 3" descr="image.png">
            <a:extLst>
              <a:ext uri="{FF2B5EF4-FFF2-40B4-BE49-F238E27FC236}">
                <a16:creationId xmlns:a16="http://schemas.microsoft.com/office/drawing/2014/main" id="{19526B49-4097-F267-7ECE-66D4E7706BF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5775" y="5705177"/>
            <a:ext cx="11220450" cy="485775"/>
          </a:xfrm>
          <a:prstGeom prst="rect">
            <a:avLst/>
          </a:prstGeom>
        </p:spPr>
      </p:pic>
      <p:pic>
        <p:nvPicPr>
          <p:cNvPr id="5" name="Picture 4" descr="image.png">
            <a:extLst>
              <a:ext uri="{FF2B5EF4-FFF2-40B4-BE49-F238E27FC236}">
                <a16:creationId xmlns:a16="http://schemas.microsoft.com/office/drawing/2014/main" id="{B0244C8F-8054-773E-C1BB-0F5BC87A0F7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5775" y="2204144"/>
            <a:ext cx="5534025" cy="1607641"/>
          </a:xfrm>
          <a:prstGeom prst="rect">
            <a:avLst/>
          </a:prstGeom>
        </p:spPr>
      </p:pic>
      <p:pic>
        <p:nvPicPr>
          <p:cNvPr id="6" name="Picture 5" descr="image.png">
            <a:extLst>
              <a:ext uri="{FF2B5EF4-FFF2-40B4-BE49-F238E27FC236}">
                <a16:creationId xmlns:a16="http://schemas.microsoft.com/office/drawing/2014/main" id="{E2F9C699-F990-E89F-98BB-406E60D64D1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72200" y="2204144"/>
            <a:ext cx="5534025" cy="1607641"/>
          </a:xfrm>
          <a:prstGeom prst="rect">
            <a:avLst/>
          </a:prstGeom>
        </p:spPr>
      </p:pic>
      <p:pic>
        <p:nvPicPr>
          <p:cNvPr id="7" name="Picture 6" descr="image.png">
            <a:extLst>
              <a:ext uri="{FF2B5EF4-FFF2-40B4-BE49-F238E27FC236}">
                <a16:creationId xmlns:a16="http://schemas.microsoft.com/office/drawing/2014/main" id="{76AD11DF-A782-DE94-F60B-A8BA3CC2974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5775" y="3964185"/>
            <a:ext cx="5534025" cy="1607641"/>
          </a:xfrm>
          <a:prstGeom prst="rect">
            <a:avLst/>
          </a:prstGeom>
        </p:spPr>
      </p:pic>
      <p:pic>
        <p:nvPicPr>
          <p:cNvPr id="8" name="Picture 7" descr="image.png">
            <a:extLst>
              <a:ext uri="{FF2B5EF4-FFF2-40B4-BE49-F238E27FC236}">
                <a16:creationId xmlns:a16="http://schemas.microsoft.com/office/drawing/2014/main" id="{950492B4-53DA-3698-1C8B-7A81C5F4730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72200" y="3964185"/>
            <a:ext cx="5534025" cy="1607641"/>
          </a:xfrm>
          <a:prstGeom prst="rect">
            <a:avLst/>
          </a:prstGeom>
        </p:spPr>
      </p:pic>
      <p:pic>
        <p:nvPicPr>
          <p:cNvPr id="9" name="Picture 8" descr="image.png">
            <a:extLst>
              <a:ext uri="{FF2B5EF4-FFF2-40B4-BE49-F238E27FC236}">
                <a16:creationId xmlns:a16="http://schemas.microsoft.com/office/drawing/2014/main" id="{825DD4F9-9600-289F-4484-8867EB4208A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6750" y="2918519"/>
            <a:ext cx="5172075" cy="712291"/>
          </a:xfrm>
          <a:prstGeom prst="rect">
            <a:avLst/>
          </a:prstGeom>
        </p:spPr>
      </p:pic>
      <p:pic>
        <p:nvPicPr>
          <p:cNvPr id="10" name="Picture 9" descr="image.png">
            <a:extLst>
              <a:ext uri="{FF2B5EF4-FFF2-40B4-BE49-F238E27FC236}">
                <a16:creationId xmlns:a16="http://schemas.microsoft.com/office/drawing/2014/main" id="{41C039F1-9711-D100-16AC-BA27222A06A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53175" y="2918519"/>
            <a:ext cx="5172075" cy="712291"/>
          </a:xfrm>
          <a:prstGeom prst="rect">
            <a:avLst/>
          </a:prstGeom>
        </p:spPr>
      </p:pic>
      <p:pic>
        <p:nvPicPr>
          <p:cNvPr id="11" name="Picture 10" descr="image.png">
            <a:extLst>
              <a:ext uri="{FF2B5EF4-FFF2-40B4-BE49-F238E27FC236}">
                <a16:creationId xmlns:a16="http://schemas.microsoft.com/office/drawing/2014/main" id="{20E5AD52-96A5-B4C2-F7C4-D62D5A08B881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66750" y="4678560"/>
            <a:ext cx="5172075" cy="712291"/>
          </a:xfrm>
          <a:prstGeom prst="rect">
            <a:avLst/>
          </a:prstGeom>
        </p:spPr>
      </p:pic>
      <p:pic>
        <p:nvPicPr>
          <p:cNvPr id="12" name="Picture 11" descr="image.png">
            <a:extLst>
              <a:ext uri="{FF2B5EF4-FFF2-40B4-BE49-F238E27FC236}">
                <a16:creationId xmlns:a16="http://schemas.microsoft.com/office/drawing/2014/main" id="{540C352F-78B0-297E-88B5-B76CBD8A7E03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353175" y="4678560"/>
            <a:ext cx="5172075" cy="712291"/>
          </a:xfrm>
          <a:prstGeom prst="rect">
            <a:avLst/>
          </a:prstGeom>
        </p:spPr>
      </p:pic>
      <p:pic>
        <p:nvPicPr>
          <p:cNvPr id="13" name="Picture 12" descr="image.png">
            <a:extLst>
              <a:ext uri="{FF2B5EF4-FFF2-40B4-BE49-F238E27FC236}">
                <a16:creationId xmlns:a16="http://schemas.microsoft.com/office/drawing/2014/main" id="{BBDC7372-9EA0-3449-F9BA-38931F3D389D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938587" y="5829002"/>
            <a:ext cx="1009650" cy="238125"/>
          </a:xfrm>
          <a:prstGeom prst="rect">
            <a:avLst/>
          </a:prstGeom>
        </p:spPr>
      </p:pic>
      <p:pic>
        <p:nvPicPr>
          <p:cNvPr id="14" name="Picture 13" descr="image.png">
            <a:extLst>
              <a:ext uri="{FF2B5EF4-FFF2-40B4-BE49-F238E27FC236}">
                <a16:creationId xmlns:a16="http://schemas.microsoft.com/office/drawing/2014/main" id="{7EAF3302-6447-C678-FD3D-86B8024D07C5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062537" y="5829002"/>
            <a:ext cx="1304925" cy="238125"/>
          </a:xfrm>
          <a:prstGeom prst="rect">
            <a:avLst/>
          </a:prstGeom>
        </p:spPr>
      </p:pic>
      <p:pic>
        <p:nvPicPr>
          <p:cNvPr id="15" name="Picture 14" descr="image.png">
            <a:extLst>
              <a:ext uri="{FF2B5EF4-FFF2-40B4-BE49-F238E27FC236}">
                <a16:creationId xmlns:a16="http://schemas.microsoft.com/office/drawing/2014/main" id="{E4FF2FFC-BD70-FEE7-F906-953E7EBA0891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481762" y="5829002"/>
            <a:ext cx="762000" cy="238125"/>
          </a:xfrm>
          <a:prstGeom prst="rect">
            <a:avLst/>
          </a:prstGeom>
        </p:spPr>
      </p:pic>
      <p:pic>
        <p:nvPicPr>
          <p:cNvPr id="17" name="Picture 16" descr="image.png">
            <a:extLst>
              <a:ext uri="{FF2B5EF4-FFF2-40B4-BE49-F238E27FC236}">
                <a16:creationId xmlns:a16="http://schemas.microsoft.com/office/drawing/2014/main" id="{7F1CFF3B-8BED-6B31-B733-1937FDC94B2F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83406" y="473945"/>
            <a:ext cx="128587" cy="123825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3246E340-7A70-9659-3A49-CFDD07D06BED}"/>
              </a:ext>
            </a:extLst>
          </p:cNvPr>
          <p:cNvSpPr txBox="1"/>
          <p:nvPr/>
        </p:nvSpPr>
        <p:spPr>
          <a:xfrm>
            <a:off x="685800" y="5862339"/>
            <a:ext cx="1676400" cy="171450"/>
          </a:xfrm>
          <a:prstGeom prst="rect">
            <a:avLst/>
          </a:prstGeom>
          <a:noFill/>
        </p:spPr>
        <p:txBody>
          <a:bodyPr wrap="square" lIns="13335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FFFFFF"/>
                </a:solidFill>
                <a:latin typeface="Plus Jakarta Sans"/>
              </a:rPr>
              <a:t>Persona Auto-Filtering: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2033DA9-1B75-8465-C6F2-E654AEBFCF14}"/>
              </a:ext>
            </a:extLst>
          </p:cNvPr>
          <p:cNvSpPr txBox="1"/>
          <p:nvPr/>
        </p:nvSpPr>
        <p:spPr>
          <a:xfrm>
            <a:off x="9925050" y="5876627"/>
            <a:ext cx="1581150" cy="142875"/>
          </a:xfrm>
          <a:prstGeom prst="rect">
            <a:avLst/>
          </a:prstGeom>
          <a:noFill/>
        </p:spPr>
        <p:txBody>
          <a:bodyPr wrap="square" lIns="13335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A7F3D0"/>
                </a:solidFill>
                <a:latin typeface="Plus Jakarta Sans"/>
              </a:rPr>
              <a:t>1-Click Grocery List Export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E76EB04-5060-4DB2-3FCB-42DEB649B0A2}"/>
              </a:ext>
            </a:extLst>
          </p:cNvPr>
          <p:cNvSpPr txBox="1"/>
          <p:nvPr/>
        </p:nvSpPr>
        <p:spPr>
          <a:xfrm>
            <a:off x="2419350" y="2392798"/>
            <a:ext cx="3295650" cy="2000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 u="none" dirty="0">
                <a:solidFill>
                  <a:srgbClr val="FFFFFF"/>
                </a:solidFill>
                <a:latin typeface="Plus Jakarta Sans"/>
              </a:rPr>
              <a:t> Iron &amp; Hemoglobin Risk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A555CF4-5B1A-7E7E-E5F4-B1565A168C06}"/>
              </a:ext>
            </a:extLst>
          </p:cNvPr>
          <p:cNvSpPr txBox="1"/>
          <p:nvPr/>
        </p:nvSpPr>
        <p:spPr>
          <a:xfrm>
            <a:off x="666750" y="2680394"/>
            <a:ext cx="5172075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1" u="none">
                <a:solidFill>
                  <a:srgbClr val="FCA5A5"/>
                </a:solidFill>
                <a:latin typeface="Plus Jakarta Sans"/>
              </a:rPr>
              <a:t> Symptoms: Chronic fatigue, pale skin, cold hands &amp; brittle nails 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B4B4479-AD01-BDE9-C25A-535392EE6E67}"/>
              </a:ext>
            </a:extLst>
          </p:cNvPr>
          <p:cNvSpPr txBox="1"/>
          <p:nvPr/>
        </p:nvSpPr>
        <p:spPr>
          <a:xfrm>
            <a:off x="7785735" y="2408931"/>
            <a:ext cx="3057525" cy="2000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 u="none" dirty="0">
                <a:solidFill>
                  <a:srgbClr val="FFFFFF"/>
                </a:solidFill>
                <a:latin typeface="Plus Jakarta Sans"/>
              </a:rPr>
              <a:t> Vitamin D3 &amp; Calcium Risk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102B9F4-24A8-8812-8117-78594E4BCEC9}"/>
              </a:ext>
            </a:extLst>
          </p:cNvPr>
          <p:cNvSpPr txBox="1"/>
          <p:nvPr/>
        </p:nvSpPr>
        <p:spPr>
          <a:xfrm>
            <a:off x="6353175" y="2680394"/>
            <a:ext cx="5172075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1" u="none">
                <a:solidFill>
                  <a:srgbClr val="FCA5A5"/>
                </a:solidFill>
                <a:latin typeface="Plus Jakarta Sans"/>
              </a:rPr>
              <a:t> Symptoms: Joint stiffness, backache, muscle weakness &amp; slow recovery 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FEE4002-32A1-69F4-12FE-6FE01D53DF53}"/>
              </a:ext>
            </a:extLst>
          </p:cNvPr>
          <p:cNvSpPr txBox="1"/>
          <p:nvPr/>
        </p:nvSpPr>
        <p:spPr>
          <a:xfrm>
            <a:off x="2347913" y="4152839"/>
            <a:ext cx="3162300" cy="2000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 u="none" dirty="0">
                <a:solidFill>
                  <a:srgbClr val="FFFFFF"/>
                </a:solidFill>
                <a:latin typeface="Plus Jakarta Sans"/>
              </a:rPr>
              <a:t> Vitamin B12 &amp; Folate Risk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BACCA1F-A6B5-6B7F-6352-97E472171B84}"/>
              </a:ext>
            </a:extLst>
          </p:cNvPr>
          <p:cNvSpPr txBox="1"/>
          <p:nvPr/>
        </p:nvSpPr>
        <p:spPr>
          <a:xfrm>
            <a:off x="666750" y="4440435"/>
            <a:ext cx="5172075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1" u="none">
                <a:solidFill>
                  <a:srgbClr val="FCA5A5"/>
                </a:solidFill>
                <a:latin typeface="Plus Jakarta Sans"/>
              </a:rPr>
              <a:t> Symptoms: Brain fog, tingling in hands/feet, memory dips &amp; low mood 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C0E5F49-2B20-3A94-4798-007A1D6A22E9}"/>
              </a:ext>
            </a:extLst>
          </p:cNvPr>
          <p:cNvSpPr txBox="1"/>
          <p:nvPr/>
        </p:nvSpPr>
        <p:spPr>
          <a:xfrm>
            <a:off x="7677150" y="4130753"/>
            <a:ext cx="2895600" cy="2000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 u="none" dirty="0">
                <a:solidFill>
                  <a:srgbClr val="FFFFFF"/>
                </a:solidFill>
                <a:latin typeface="Plus Jakarta Sans"/>
              </a:rPr>
              <a:t> Magnesium &amp; Potassium Risk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BD43A14-CF4C-029F-7AB6-F9E6269A1115}"/>
              </a:ext>
            </a:extLst>
          </p:cNvPr>
          <p:cNvSpPr txBox="1"/>
          <p:nvPr/>
        </p:nvSpPr>
        <p:spPr>
          <a:xfrm>
            <a:off x="6353175" y="4440435"/>
            <a:ext cx="5172075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1" u="none">
                <a:solidFill>
                  <a:srgbClr val="FCA5A5"/>
                </a:solidFill>
                <a:latin typeface="Plus Jakarta Sans"/>
              </a:rPr>
              <a:t> Symptoms: Night leg cramps, restless sleep &amp; muscle spasms </a:t>
            </a:r>
          </a:p>
        </p:txBody>
      </p:sp>
      <p:pic>
        <p:nvPicPr>
          <p:cNvPr id="28" name="Picture 27" descr="image.png">
            <a:extLst>
              <a:ext uri="{FF2B5EF4-FFF2-40B4-BE49-F238E27FC236}">
                <a16:creationId xmlns:a16="http://schemas.microsoft.com/office/drawing/2014/main" id="{1A1B2EC0-63F8-B2C2-187F-7BB6CBC87C33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00075" y="5890914"/>
            <a:ext cx="133350" cy="133350"/>
          </a:xfrm>
          <a:prstGeom prst="rect">
            <a:avLst/>
          </a:prstGeom>
        </p:spPr>
      </p:pic>
      <p:pic>
        <p:nvPicPr>
          <p:cNvPr id="29" name="Picture 28" descr="image.png">
            <a:extLst>
              <a:ext uri="{FF2B5EF4-FFF2-40B4-BE49-F238E27FC236}">
                <a16:creationId xmlns:a16="http://schemas.microsoft.com/office/drawing/2014/main" id="{0FFB324D-14C8-DCD4-EBD4-F16C63099F0B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925050" y="5895677"/>
            <a:ext cx="133350" cy="114300"/>
          </a:xfrm>
          <a:prstGeom prst="rect">
            <a:avLst/>
          </a:prstGeom>
        </p:spPr>
      </p:pic>
      <p:pic>
        <p:nvPicPr>
          <p:cNvPr id="30" name="Picture 29" descr="image.png">
            <a:extLst>
              <a:ext uri="{FF2B5EF4-FFF2-40B4-BE49-F238E27FC236}">
                <a16:creationId xmlns:a16="http://schemas.microsoft.com/office/drawing/2014/main" id="{2DCAA00A-8A8A-CDEA-2CCA-B5CDCD0C37D6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572000" y="2394644"/>
            <a:ext cx="1266825" cy="180975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FB064802-3431-1D7E-FF5D-A18D7C6ED7F4}"/>
              </a:ext>
            </a:extLst>
          </p:cNvPr>
          <p:cNvSpPr txBox="1"/>
          <p:nvPr/>
        </p:nvSpPr>
        <p:spPr>
          <a:xfrm>
            <a:off x="952500" y="3023294"/>
            <a:ext cx="5000625" cy="1428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 i="0" u="none">
                <a:solidFill>
                  <a:srgbClr val="34D399"/>
                </a:solidFill>
                <a:latin typeface="Plus Jakarta Sans"/>
              </a:rPr>
              <a:t>Target Foods &amp; Meals Provided: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10B9D82-189D-FE77-8D74-A4762B4C1560}"/>
              </a:ext>
            </a:extLst>
          </p:cNvPr>
          <p:cNvSpPr txBox="1"/>
          <p:nvPr/>
        </p:nvSpPr>
        <p:spPr>
          <a:xfrm>
            <a:off x="790575" y="3204269"/>
            <a:ext cx="4924425" cy="3217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67"/>
              </a:lnSpc>
            </a:pPr>
            <a:r>
              <a:rPr sz="975" b="0" i="0" u="none">
                <a:solidFill>
                  <a:srgbClr val="FFFFFF"/>
                </a:solidFill>
                <a:latin typeface="Plus Jakarta Sans SemiBold"/>
              </a:rPr>
              <a:t>Palak Dal, Beetroot-Amla Juice, Sprouted Moong Salad, Jaggery Chikki paired with Vitamin C for max absorption.</a:t>
            </a:r>
          </a:p>
        </p:txBody>
      </p:sp>
      <p:pic>
        <p:nvPicPr>
          <p:cNvPr id="33" name="Picture 32" descr="image.png">
            <a:extLst>
              <a:ext uri="{FF2B5EF4-FFF2-40B4-BE49-F238E27FC236}">
                <a16:creationId xmlns:a16="http://schemas.microsoft.com/office/drawing/2014/main" id="{C218FE23-05CB-CAE0-1B26-B0D251298EF0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0306050" y="2402322"/>
            <a:ext cx="1200150" cy="180975"/>
          </a:xfrm>
          <a:prstGeom prst="rect">
            <a:avLst/>
          </a:prstGeom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642F3B71-99D9-4CAB-D3D7-7D2227668245}"/>
              </a:ext>
            </a:extLst>
          </p:cNvPr>
          <p:cNvSpPr txBox="1"/>
          <p:nvPr/>
        </p:nvSpPr>
        <p:spPr>
          <a:xfrm>
            <a:off x="6638925" y="3023294"/>
            <a:ext cx="5000625" cy="1428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 i="0" u="none">
                <a:solidFill>
                  <a:srgbClr val="34D399"/>
                </a:solidFill>
                <a:latin typeface="Plus Jakarta Sans"/>
              </a:rPr>
              <a:t>Target Foods &amp; Meals Provided: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42C9DFE-2279-2BDE-E224-C85933067A42}"/>
              </a:ext>
            </a:extLst>
          </p:cNvPr>
          <p:cNvSpPr txBox="1"/>
          <p:nvPr/>
        </p:nvSpPr>
        <p:spPr>
          <a:xfrm>
            <a:off x="6477000" y="3204269"/>
            <a:ext cx="4924425" cy="3217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67"/>
              </a:lnSpc>
            </a:pPr>
            <a:r>
              <a:rPr sz="975" b="0" i="0" u="none">
                <a:solidFill>
                  <a:srgbClr val="FFFFFF"/>
                </a:solidFill>
                <a:latin typeface="Plus Jakarta Sans SemiBold"/>
              </a:rPr>
              <a:t>Ragi Dosa, Fortified Curd, Paneer Tikka, Sesame Seed Laddus, and Sun-Dried Mushroom Curry.</a:t>
            </a:r>
          </a:p>
        </p:txBody>
      </p:sp>
      <p:pic>
        <p:nvPicPr>
          <p:cNvPr id="36" name="Picture 35" descr="image.png">
            <a:extLst>
              <a:ext uri="{FF2B5EF4-FFF2-40B4-BE49-F238E27FC236}">
                <a16:creationId xmlns:a16="http://schemas.microsoft.com/office/drawing/2014/main" id="{EFD1632C-E936-94D3-1E44-EE6255240416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4238625" y="4173735"/>
            <a:ext cx="1600200" cy="180975"/>
          </a:xfrm>
          <a:prstGeom prst="rect">
            <a:avLst/>
          </a:prstGeom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1D684DEA-8370-7F29-201F-C1D5E9ECEAB3}"/>
              </a:ext>
            </a:extLst>
          </p:cNvPr>
          <p:cNvSpPr txBox="1"/>
          <p:nvPr/>
        </p:nvSpPr>
        <p:spPr>
          <a:xfrm>
            <a:off x="952500" y="4783335"/>
            <a:ext cx="5000625" cy="1428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 i="0" u="none">
                <a:solidFill>
                  <a:srgbClr val="34D399"/>
                </a:solidFill>
                <a:latin typeface="Plus Jakarta Sans"/>
              </a:rPr>
              <a:t>Target Foods &amp; Meals Provided: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32908231-309A-4EE8-AC42-AC7C9A604ACF}"/>
              </a:ext>
            </a:extLst>
          </p:cNvPr>
          <p:cNvSpPr txBox="1"/>
          <p:nvPr/>
        </p:nvSpPr>
        <p:spPr>
          <a:xfrm>
            <a:off x="790575" y="4964310"/>
            <a:ext cx="4924425" cy="3217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67"/>
              </a:lnSpc>
            </a:pPr>
            <a:r>
              <a:rPr sz="975" b="0" i="0" u="none">
                <a:solidFill>
                  <a:srgbClr val="FFFFFF"/>
                </a:solidFill>
                <a:latin typeface="Plus Jakarta Sans SemiBold"/>
              </a:rPr>
              <a:t>Fermented Idli/Dosa Batter, Egg/Paneer Bhurji, Fortified Milk Smoothies &amp; Rajma Spinach Bowls.</a:t>
            </a:r>
          </a:p>
        </p:txBody>
      </p:sp>
      <p:pic>
        <p:nvPicPr>
          <p:cNvPr id="39" name="Picture 38" descr="image.png">
            <a:extLst>
              <a:ext uri="{FF2B5EF4-FFF2-40B4-BE49-F238E27FC236}">
                <a16:creationId xmlns:a16="http://schemas.microsoft.com/office/drawing/2014/main" id="{306A6ADD-643A-9C82-64D6-5C8126E31C0F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9886950" y="4146945"/>
            <a:ext cx="1619250" cy="180975"/>
          </a:xfrm>
          <a:prstGeom prst="rect">
            <a:avLst/>
          </a:prstGeom>
        </p:spPr>
      </p:pic>
      <p:sp>
        <p:nvSpPr>
          <p:cNvPr id="40" name="TextBox 39">
            <a:extLst>
              <a:ext uri="{FF2B5EF4-FFF2-40B4-BE49-F238E27FC236}">
                <a16:creationId xmlns:a16="http://schemas.microsoft.com/office/drawing/2014/main" id="{4798BBB3-6977-58BA-BE6B-12AAB8FAF3C7}"/>
              </a:ext>
            </a:extLst>
          </p:cNvPr>
          <p:cNvSpPr txBox="1"/>
          <p:nvPr/>
        </p:nvSpPr>
        <p:spPr>
          <a:xfrm>
            <a:off x="6638925" y="4783335"/>
            <a:ext cx="5000625" cy="1428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 i="0" u="none">
                <a:solidFill>
                  <a:srgbClr val="34D399"/>
                </a:solidFill>
                <a:latin typeface="Plus Jakarta Sans"/>
              </a:rPr>
              <a:t>Target Foods &amp; Meals Provided: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BEE0E810-0233-5946-7853-39BB70850C8E}"/>
              </a:ext>
            </a:extLst>
          </p:cNvPr>
          <p:cNvSpPr txBox="1"/>
          <p:nvPr/>
        </p:nvSpPr>
        <p:spPr>
          <a:xfrm>
            <a:off x="6477000" y="4964310"/>
            <a:ext cx="4924425" cy="3217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67"/>
              </a:lnSpc>
            </a:pPr>
            <a:r>
              <a:rPr sz="975" b="0" i="0" u="none">
                <a:solidFill>
                  <a:srgbClr val="FFFFFF"/>
                </a:solidFill>
                <a:latin typeface="Plus Jakarta Sans SemiBold"/>
              </a:rPr>
              <a:t>Pumpkin &amp; Flax Seed Granola, Fresh Coconut Water, Banana Oats Smoothie &amp; Avocado Bowls.</a:t>
            </a:r>
          </a:p>
        </p:txBody>
      </p:sp>
      <p:pic>
        <p:nvPicPr>
          <p:cNvPr id="42" name="Picture 41" descr="image.png">
            <a:extLst>
              <a:ext uri="{FF2B5EF4-FFF2-40B4-BE49-F238E27FC236}">
                <a16:creationId xmlns:a16="http://schemas.microsoft.com/office/drawing/2014/main" id="{DDB8C76C-D6C6-EA02-0E87-F7B4D6CC4C26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4001642" y="5895677"/>
            <a:ext cx="114300" cy="114300"/>
          </a:xfrm>
          <a:prstGeom prst="rect">
            <a:avLst/>
          </a:prstGeom>
        </p:spPr>
      </p:pic>
      <p:pic>
        <p:nvPicPr>
          <p:cNvPr id="43" name="Picture 42" descr="image.png">
            <a:extLst>
              <a:ext uri="{FF2B5EF4-FFF2-40B4-BE49-F238E27FC236}">
                <a16:creationId xmlns:a16="http://schemas.microsoft.com/office/drawing/2014/main" id="{F962F6A9-AE43-7301-E93E-119E7FB3EE24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5133974" y="5895677"/>
            <a:ext cx="114300" cy="114300"/>
          </a:xfrm>
          <a:prstGeom prst="rect">
            <a:avLst/>
          </a:prstGeom>
        </p:spPr>
      </p:pic>
      <p:pic>
        <p:nvPicPr>
          <p:cNvPr id="44" name="Picture 43" descr="image.png">
            <a:extLst>
              <a:ext uri="{FF2B5EF4-FFF2-40B4-BE49-F238E27FC236}">
                <a16:creationId xmlns:a16="http://schemas.microsoft.com/office/drawing/2014/main" id="{958FDED5-249A-4FE8-299D-4CD3EE6B4A63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6556818" y="5897474"/>
            <a:ext cx="114300" cy="114300"/>
          </a:xfrm>
          <a:prstGeom prst="rect">
            <a:avLst/>
          </a:prstGeom>
        </p:spPr>
      </p:pic>
      <p:pic>
        <p:nvPicPr>
          <p:cNvPr id="46" name="Picture 45" descr="image.png">
            <a:extLst>
              <a:ext uri="{FF2B5EF4-FFF2-40B4-BE49-F238E27FC236}">
                <a16:creationId xmlns:a16="http://schemas.microsoft.com/office/drawing/2014/main" id="{C38526CB-3652-D9DE-4EA5-F09103BA1695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666750" y="2413694"/>
            <a:ext cx="152400" cy="152400"/>
          </a:xfrm>
          <a:prstGeom prst="rect">
            <a:avLst/>
          </a:prstGeom>
        </p:spPr>
      </p:pic>
      <p:pic>
        <p:nvPicPr>
          <p:cNvPr id="47" name="Picture 46" descr="image.png">
            <a:extLst>
              <a:ext uri="{FF2B5EF4-FFF2-40B4-BE49-F238E27FC236}">
                <a16:creationId xmlns:a16="http://schemas.microsoft.com/office/drawing/2014/main" id="{B20A7DE7-B480-DF81-FDB8-4B80B060F1E3}"/>
              </a:ext>
            </a:extLst>
      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790575" y="3037582"/>
            <a:ext cx="104775" cy="114300"/>
          </a:xfrm>
          <a:prstGeom prst="rect">
            <a:avLst/>
          </a:prstGeom>
        </p:spPr>
      </p:pic>
      <p:pic>
        <p:nvPicPr>
          <p:cNvPr id="48" name="Picture 47" descr="image.png">
            <a:extLst>
              <a:ext uri="{FF2B5EF4-FFF2-40B4-BE49-F238E27FC236}">
                <a16:creationId xmlns:a16="http://schemas.microsoft.com/office/drawing/2014/main" id="{579CF820-6951-FEFB-C18E-BFAB4E70FE4D}"/>
              </a:ext>
            </a:extLst>
      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6353175" y="2413694"/>
            <a:ext cx="171450" cy="152400"/>
          </a:xfrm>
          <a:prstGeom prst="rect">
            <a:avLst/>
          </a:prstGeom>
        </p:spPr>
      </p:pic>
      <p:pic>
        <p:nvPicPr>
          <p:cNvPr id="49" name="Picture 48" descr="image.png">
            <a:extLst>
              <a:ext uri="{FF2B5EF4-FFF2-40B4-BE49-F238E27FC236}">
                <a16:creationId xmlns:a16="http://schemas.microsoft.com/office/drawing/2014/main" id="{CFAA4283-040A-9541-C8F3-CB1FB4F782AA}"/>
              </a:ext>
            </a:extLst>
      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6477000" y="3037582"/>
            <a:ext cx="104775" cy="114300"/>
          </a:xfrm>
          <a:prstGeom prst="rect">
            <a:avLst/>
          </a:prstGeom>
        </p:spPr>
      </p:pic>
      <p:pic>
        <p:nvPicPr>
          <p:cNvPr id="50" name="Picture 49" descr="image.png">
            <a:extLst>
              <a:ext uri="{FF2B5EF4-FFF2-40B4-BE49-F238E27FC236}">
                <a16:creationId xmlns:a16="http://schemas.microsoft.com/office/drawing/2014/main" id="{8040E585-0DCE-A772-129C-974A542FFEB4}"/>
              </a:ext>
            </a:extLst>
      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666750" y="4173735"/>
            <a:ext cx="152400" cy="152400"/>
          </a:xfrm>
          <a:prstGeom prst="rect">
            <a:avLst/>
          </a:prstGeom>
        </p:spPr>
      </p:pic>
      <p:pic>
        <p:nvPicPr>
          <p:cNvPr id="51" name="Picture 50" descr="image.png">
            <a:extLst>
              <a:ext uri="{FF2B5EF4-FFF2-40B4-BE49-F238E27FC236}">
                <a16:creationId xmlns:a16="http://schemas.microsoft.com/office/drawing/2014/main" id="{FA35847C-C141-787D-0A87-655AB67DDD9C}"/>
              </a:ext>
            </a:extLst>
      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790575" y="4797623"/>
            <a:ext cx="104775" cy="114300"/>
          </a:xfrm>
          <a:prstGeom prst="rect">
            <a:avLst/>
          </a:prstGeom>
        </p:spPr>
      </p:pic>
      <p:pic>
        <p:nvPicPr>
          <p:cNvPr id="52" name="Picture 51" descr="image.png">
            <a:extLst>
              <a:ext uri="{FF2B5EF4-FFF2-40B4-BE49-F238E27FC236}">
                <a16:creationId xmlns:a16="http://schemas.microsoft.com/office/drawing/2014/main" id="{B097FFAF-FAF2-6EE8-D3FF-A9E82A820A4F}"/>
              </a:ext>
            </a:extLst>
      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6353175" y="4173735"/>
            <a:ext cx="133350" cy="152400"/>
          </a:xfrm>
          <a:prstGeom prst="rect">
            <a:avLst/>
          </a:prstGeom>
        </p:spPr>
      </p:pic>
      <p:pic>
        <p:nvPicPr>
          <p:cNvPr id="53" name="Picture 52" descr="image.png">
            <a:extLst>
              <a:ext uri="{FF2B5EF4-FFF2-40B4-BE49-F238E27FC236}">
                <a16:creationId xmlns:a16="http://schemas.microsoft.com/office/drawing/2014/main" id="{09A9CC3F-CBD3-250D-22BF-86603BCFA090}"/>
              </a:ext>
            </a:extLst>
      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6477000" y="4797623"/>
            <a:ext cx="104775" cy="114300"/>
          </a:xfrm>
          <a:prstGeom prst="rect">
            <a:avLst/>
          </a:prstGeom>
        </p:spPr>
      </p:pic>
      <p:sp>
        <p:nvSpPr>
          <p:cNvPr id="54" name="TextBox 53">
            <a:extLst>
              <a:ext uri="{FF2B5EF4-FFF2-40B4-BE49-F238E27FC236}">
                <a16:creationId xmlns:a16="http://schemas.microsoft.com/office/drawing/2014/main" id="{5E5D6ED0-9E61-7472-FBF0-ADAF5A3C14EF}"/>
              </a:ext>
            </a:extLst>
          </p:cNvPr>
          <p:cNvSpPr txBox="1"/>
          <p:nvPr/>
        </p:nvSpPr>
        <p:spPr>
          <a:xfrm>
            <a:off x="485775" y="1028700"/>
            <a:ext cx="11706225" cy="3942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104"/>
              </a:lnSpc>
            </a:pPr>
            <a:r>
              <a:rPr sz="2700" b="1" i="0" u="none">
                <a:solidFill>
                  <a:srgbClr val="FFFFFF"/>
                </a:solidFill>
                <a:latin typeface="Outfit"/>
              </a:rPr>
              <a:t>Plates Built Just for You — Turn Deficiency into Delights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D28DDB1B-C6B3-7F36-D8C5-81F98CEAD947}"/>
              </a:ext>
            </a:extLst>
          </p:cNvPr>
          <p:cNvSpPr txBox="1"/>
          <p:nvPr/>
        </p:nvSpPr>
        <p:spPr>
          <a:xfrm>
            <a:off x="485775" y="1499145"/>
            <a:ext cx="1122045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A7F3D0"/>
                </a:solidFill>
                <a:latin typeface="Plus Jakarta Sans"/>
              </a:rPr>
              <a:t>Targeting Detected Micronutrient Risks with Precise, Wholesome Meal Plans 🥑🍛</a:t>
            </a:r>
          </a:p>
        </p:txBody>
      </p:sp>
    </p:spTree>
    <p:extLst>
      <p:ext uri="{BB962C8B-B14F-4D97-AF65-F5344CB8AC3E}">
        <p14:creationId xmlns:p14="http://schemas.microsoft.com/office/powerpoint/2010/main" val="28994296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4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0391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775" y="390525"/>
            <a:ext cx="2533798" cy="2476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5775" y="1997868"/>
            <a:ext cx="3638550" cy="11144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76725" y="1997868"/>
            <a:ext cx="3638550" cy="111442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67675" y="1997868"/>
            <a:ext cx="3638550" cy="111442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5775" y="3264693"/>
            <a:ext cx="3638550" cy="111442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76725" y="3264693"/>
            <a:ext cx="3638550" cy="111442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67675" y="3264693"/>
            <a:ext cx="3638550" cy="111442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5775" y="4531518"/>
            <a:ext cx="3638550" cy="111442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76725" y="4531518"/>
            <a:ext cx="3638550" cy="111442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67675" y="4531518"/>
            <a:ext cx="3638550" cy="1114425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85775" y="6200775"/>
            <a:ext cx="11220450" cy="2667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85775" y="695325"/>
            <a:ext cx="11706225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sz="2400" b="1" i="0" u="none">
                <a:solidFill>
                  <a:srgbClr val="F8FAFC"/>
                </a:solidFill>
                <a:latin typeface="Poppins"/>
              </a:rPr>
              <a:t>Everything </a:t>
            </a:r>
            <a:r>
              <a:rPr sz="2400" b="1" i="0" u="none">
                <a:solidFill>
                  <a:srgbClr val="10B981"/>
                </a:solidFill>
                <a:latin typeface="Poppins"/>
              </a:rPr>
              <a:t>NutriAI</a:t>
            </a:r>
            <a:r>
              <a:rPr sz="2400" b="1" i="0" u="none">
                <a:solidFill>
                  <a:srgbClr val="F8FAFC"/>
                </a:solidFill>
                <a:latin typeface="Poppins"/>
              </a:rPr>
              <a:t> Delivers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5775" y="1133475"/>
            <a:ext cx="11220450" cy="214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94A3B8"/>
                </a:solidFill>
                <a:latin typeface="Inter"/>
              </a:rPr>
              <a:t>A unified healthcare platform bridging clinical pathology with daily food choices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53343" y="454818"/>
            <a:ext cx="150614" cy="123825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952500" y="2222606"/>
            <a:ext cx="2971800" cy="20774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0" i="0" u="none" dirty="0" err="1">
                <a:solidFill>
                  <a:srgbClr val="F1F5F9"/>
                </a:solidFill>
                <a:latin typeface="Poppins SemiBold"/>
              </a:rPr>
              <a:t>XGBoost</a:t>
            </a:r>
            <a:r>
              <a:rPr sz="1350" b="0" i="0" u="none" dirty="0">
                <a:solidFill>
                  <a:srgbClr val="F1F5F9"/>
                </a:solidFill>
                <a:latin typeface="Poppins SemiBold"/>
              </a:rPr>
              <a:t> </a:t>
            </a:r>
            <a:r>
              <a:rPr lang="en-US" sz="1350" dirty="0">
                <a:solidFill>
                  <a:srgbClr val="F1F5F9"/>
                </a:solidFill>
                <a:latin typeface="Poppins SemiBold"/>
              </a:rPr>
              <a:t>&amp; RF </a:t>
            </a:r>
            <a:r>
              <a:rPr sz="1350" b="0" i="0" u="none" dirty="0">
                <a:solidFill>
                  <a:srgbClr val="F1F5F9"/>
                </a:solidFill>
                <a:latin typeface="Poppins SemiBold"/>
              </a:rPr>
              <a:t>Diagnostics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2512218"/>
            <a:ext cx="323850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CBD5E1"/>
                </a:solidFill>
                <a:latin typeface="Inter"/>
              </a:rPr>
              <a:t>6 tuned XGBoost models predicting B12, Iron, D3, Calcium, Folate &amp; Zinc deficiencies.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43450" y="2197893"/>
            <a:ext cx="2971800" cy="2571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0" i="0" u="none">
                <a:solidFill>
                  <a:srgbClr val="F1F5F9"/>
                </a:solidFill>
                <a:latin typeface="Poppins SemiBold"/>
              </a:rPr>
              <a:t>Blood Report Fusion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76750" y="2512218"/>
            <a:ext cx="323850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CBD5E1"/>
                </a:solidFill>
                <a:latin typeface="Inter"/>
              </a:rPr>
              <a:t>OCR extraction engine parsing lab report PDFs &amp; photos into digital biomarker inputs.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15350" y="2197893"/>
            <a:ext cx="2990850" cy="2571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0" i="0" u="none">
                <a:solidFill>
                  <a:srgbClr val="F1F5F9"/>
                </a:solidFill>
                <a:latin typeface="Poppins SemiBold"/>
              </a:rPr>
              <a:t>Persona Meal Plans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67700" y="2512218"/>
            <a:ext cx="323850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CBD5E1"/>
                </a:solidFill>
                <a:latin typeface="Inter"/>
              </a:rPr>
              <a:t>Tailored 7-day meal plans for Veg, Non-Veg, Vegan, and Eggetarian dietary preferences.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52500" y="3464718"/>
            <a:ext cx="2971800" cy="2571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0" i="0" u="none">
                <a:solidFill>
                  <a:srgbClr val="F1F5F9"/>
                </a:solidFill>
                <a:latin typeface="Poppins SemiBold"/>
              </a:rPr>
              <a:t>Barcode &amp; Food Scanner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3779043"/>
            <a:ext cx="323850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CBD5E1"/>
                </a:solidFill>
                <a:latin typeface="Inter"/>
              </a:rPr>
              <a:t>Camera-based barcode scanning for instant nutritional breakdowns and calorie counts.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05350" y="3489431"/>
            <a:ext cx="3009900" cy="20774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n-IN" sz="1350" dirty="0">
                <a:solidFill>
                  <a:srgbClr val="F1F5F9"/>
                </a:solidFill>
                <a:latin typeface="Poppins SemiBold"/>
              </a:rPr>
              <a:t>3</a:t>
            </a:r>
            <a:r>
              <a:rPr lang="en-IN" sz="1350" b="0" i="0" u="none" dirty="0">
                <a:solidFill>
                  <a:srgbClr val="F1F5F9"/>
                </a:solidFill>
                <a:latin typeface="Poppins SemiBold"/>
              </a:rPr>
              <a:t>.0L</a:t>
            </a:r>
            <a:r>
              <a:rPr sz="1350" b="0" i="0" u="none" dirty="0">
                <a:solidFill>
                  <a:srgbClr val="F1F5F9"/>
                </a:solidFill>
                <a:latin typeface="Poppins SemiBold"/>
              </a:rPr>
              <a:t> Water &amp; Macro Tracker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76750" y="3779043"/>
            <a:ext cx="323850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CBD5E1"/>
                </a:solidFill>
                <a:latin typeface="Inter"/>
              </a:rPr>
              <a:t>Interactive water gauge alongside automated daily calorie, protein, carb &amp; fat tracking.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15350" y="3464718"/>
            <a:ext cx="2990850" cy="2571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0" i="0" u="none">
                <a:solidFill>
                  <a:srgbClr val="F1F5F9"/>
                </a:solidFill>
                <a:latin typeface="Poppins SemiBold"/>
              </a:rPr>
              <a:t>Gamification &amp; Streaks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67700" y="3779043"/>
            <a:ext cx="323850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CBD5E1"/>
                </a:solidFill>
                <a:latin typeface="Inter"/>
              </a:rPr>
              <a:t>Daily logging streaks (3-Day Spark, Nutri-Master, 7-Day Iron Will) for habit formation.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0125" y="4731543"/>
            <a:ext cx="2924175" cy="2571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0" i="0" u="none">
                <a:solidFill>
                  <a:srgbClr val="F1F5F9"/>
                </a:solidFill>
                <a:latin typeface="Poppins SemiBold"/>
              </a:rPr>
              <a:t>24/7 Gemini 2.0 AI Coach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" y="5045868"/>
            <a:ext cx="323850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CBD5E1"/>
                </a:solidFill>
                <a:latin typeface="Inter"/>
              </a:rPr>
              <a:t>Conversational dietary assistant for instant health Q&amp;A and ingredient substitutions.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791075" y="4731543"/>
            <a:ext cx="2924175" cy="2571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0" i="0" u="none" dirty="0">
                <a:solidFill>
                  <a:srgbClr val="F1F5F9"/>
                </a:solidFill>
                <a:latin typeface="Poppins SemiBold"/>
              </a:rPr>
              <a:t>16 Regional Languages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476750" y="5045868"/>
            <a:ext cx="323850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CBD5E1"/>
                </a:solidFill>
                <a:latin typeface="Inter"/>
              </a:rPr>
              <a:t>Complete multi-lingual UI translation layer ensuring accessible healthcare for all.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34400" y="4731543"/>
            <a:ext cx="2971800" cy="2571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0" i="0" u="none">
                <a:solidFill>
                  <a:srgbClr val="F1F5F9"/>
                </a:solidFill>
                <a:latin typeface="Poppins SemiBold"/>
              </a:rPr>
              <a:t>PDF Health Summary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67700" y="5045868"/>
            <a:ext cx="323850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CBD5E1"/>
                </a:solidFill>
                <a:latin typeface="Inter"/>
              </a:rPr>
              <a:t>One-click diagnostic &amp; meal export ready to share with physicians or family.</a:t>
            </a:r>
          </a:p>
        </p:txBody>
      </p:sp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85800" y="2240756"/>
            <a:ext cx="171450" cy="171450"/>
          </a:xfrm>
          <a:prstGeom prst="rect">
            <a:avLst/>
          </a:prstGeom>
        </p:spPr>
      </p:pic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476750" y="2240756"/>
            <a:ext cx="171450" cy="171450"/>
          </a:xfrm>
          <a:prstGeom prst="rect">
            <a:avLst/>
          </a:prstGeom>
        </p:spPr>
      </p:pic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267700" y="2240756"/>
            <a:ext cx="152400" cy="171450"/>
          </a:xfrm>
          <a:prstGeom prst="rect">
            <a:avLst/>
          </a:prstGeom>
        </p:spPr>
      </p:pic>
      <p:pic>
        <p:nvPicPr>
          <p:cNvPr id="40" name="Picture 39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85800" y="3507581"/>
            <a:ext cx="171450" cy="171450"/>
          </a:xfrm>
          <a:prstGeom prst="rect">
            <a:avLst/>
          </a:prstGeom>
        </p:spPr>
      </p:pic>
      <p:pic>
        <p:nvPicPr>
          <p:cNvPr id="41" name="Picture 40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476750" y="3507581"/>
            <a:ext cx="133350" cy="171450"/>
          </a:xfrm>
          <a:prstGeom prst="rect">
            <a:avLst/>
          </a:prstGeom>
        </p:spPr>
      </p:pic>
      <p:pic>
        <p:nvPicPr>
          <p:cNvPr id="42" name="Picture 41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267700" y="3507581"/>
            <a:ext cx="152400" cy="171450"/>
          </a:xfrm>
          <a:prstGeom prst="rect">
            <a:avLst/>
          </a:prstGeom>
        </p:spPr>
      </p:pic>
      <p:pic>
        <p:nvPicPr>
          <p:cNvPr id="43" name="Picture 42" descr="imag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85800" y="4774406"/>
            <a:ext cx="219075" cy="171450"/>
          </a:xfrm>
          <a:prstGeom prst="rect">
            <a:avLst/>
          </a:prstGeom>
        </p:spPr>
      </p:pic>
      <p:pic>
        <p:nvPicPr>
          <p:cNvPr id="44" name="Picture 43" descr="image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4476750" y="4774406"/>
            <a:ext cx="219075" cy="171450"/>
          </a:xfrm>
          <a:prstGeom prst="rect">
            <a:avLst/>
          </a:prstGeom>
        </p:spPr>
      </p:pic>
      <p:pic>
        <p:nvPicPr>
          <p:cNvPr id="45" name="Picture 44" descr="image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8267700" y="4774406"/>
            <a:ext cx="171450" cy="17145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4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775" y="390525"/>
            <a:ext cx="2701528" cy="2476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775" y="2064543"/>
            <a:ext cx="5514975" cy="17907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5775" y="3988593"/>
            <a:ext cx="5514975" cy="159067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91250" y="2164556"/>
            <a:ext cx="5514975" cy="159067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91250" y="3888581"/>
            <a:ext cx="5514975" cy="159067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5775" y="6200775"/>
            <a:ext cx="11220450" cy="2667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85775" y="695325"/>
            <a:ext cx="11706225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sz="2400" b="1" i="0" u="none" dirty="0">
                <a:solidFill>
                  <a:srgbClr val="F8FAFC"/>
                </a:solidFill>
                <a:latin typeface="Poppins"/>
              </a:rPr>
              <a:t>The Engineering Behind </a:t>
            </a:r>
            <a:r>
              <a:rPr sz="2400" b="1" i="0" u="none" dirty="0" err="1">
                <a:solidFill>
                  <a:srgbClr val="10B981"/>
                </a:solidFill>
                <a:latin typeface="Poppins"/>
              </a:rPr>
              <a:t>NutriAI</a:t>
            </a:r>
            <a:r>
              <a:rPr sz="2400" b="1" i="0" u="none" dirty="0">
                <a:solidFill>
                  <a:srgbClr val="10B981"/>
                </a:solidFill>
                <a:latin typeface="Poppins"/>
              </a:rPr>
              <a:t> System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5775" y="1133475"/>
            <a:ext cx="11220450" cy="2004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 dirty="0">
                <a:solidFill>
                  <a:srgbClr val="94A3B8"/>
                </a:solidFill>
                <a:latin typeface="Inter"/>
              </a:rPr>
              <a:t>Architected with </a:t>
            </a:r>
            <a:r>
              <a:rPr sz="1125" b="0" i="0" u="none" dirty="0" err="1">
                <a:solidFill>
                  <a:srgbClr val="94A3B8"/>
                </a:solidFill>
                <a:latin typeface="Inter"/>
              </a:rPr>
              <a:t>XGBoost</a:t>
            </a:r>
            <a:r>
              <a:rPr lang="en-US" sz="1125" b="0" i="0" u="none" dirty="0">
                <a:solidFill>
                  <a:srgbClr val="94A3B8"/>
                </a:solidFill>
                <a:latin typeface="Inter"/>
              </a:rPr>
              <a:t> &amp; Random Forest</a:t>
            </a:r>
            <a:r>
              <a:rPr sz="1125" b="0" i="0" u="none" dirty="0">
                <a:solidFill>
                  <a:srgbClr val="94A3B8"/>
                </a:solidFill>
                <a:latin typeface="Inter"/>
              </a:rPr>
              <a:t> ML Ensembles, LLM Agents &amp; Secure Fast API ⚙️💻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48580" y="452437"/>
            <a:ext cx="160139" cy="12382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85800" y="2765531"/>
            <a:ext cx="5370671" cy="20774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n-US" sz="1350" b="0" i="0" u="none" dirty="0">
                <a:solidFill>
                  <a:srgbClr val="F1F5F9"/>
                </a:solidFill>
                <a:latin typeface="Poppins SemiBold"/>
              </a:rPr>
              <a:t>Dual-Engine AI for Precision Nutritional Health</a:t>
            </a:r>
            <a:endParaRPr sz="1350" b="0" i="0" u="none" dirty="0">
              <a:solidFill>
                <a:srgbClr val="F1F5F9"/>
              </a:solidFill>
              <a:latin typeface="Poppins SemiBold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85800" y="3055143"/>
            <a:ext cx="5114925" cy="3945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lang="en-US" sz="1050" b="0" i="0" u="none" dirty="0">
                <a:solidFill>
                  <a:srgbClr val="CBD5E1"/>
                </a:solidFill>
                <a:latin typeface="Inter"/>
              </a:rPr>
              <a:t>We don’t rely on a single algorithm. </a:t>
            </a:r>
            <a:r>
              <a:rPr lang="en-US" sz="1050" b="0" i="0" u="none" dirty="0" err="1">
                <a:solidFill>
                  <a:srgbClr val="CBD5E1"/>
                </a:solidFill>
                <a:latin typeface="Inter"/>
              </a:rPr>
              <a:t>NutriAI</a:t>
            </a:r>
            <a:r>
              <a:rPr lang="en-US" sz="1050" b="0" i="0" u="none" dirty="0">
                <a:solidFill>
                  <a:srgbClr val="CBD5E1"/>
                </a:solidFill>
                <a:latin typeface="Inter"/>
              </a:rPr>
              <a:t> merges Random Forest stability with </a:t>
            </a:r>
            <a:r>
              <a:rPr lang="en-US" sz="1050" b="0" i="0" u="none" dirty="0" err="1">
                <a:solidFill>
                  <a:srgbClr val="CBD5E1"/>
                </a:solidFill>
                <a:latin typeface="Inter"/>
              </a:rPr>
              <a:t>XGBoost</a:t>
            </a:r>
            <a:r>
              <a:rPr lang="en-US" sz="1050" b="0" i="0" u="none" dirty="0">
                <a:solidFill>
                  <a:srgbClr val="CBD5E1"/>
                </a:solidFill>
                <a:latin typeface="Inter"/>
              </a:rPr>
              <a:t> precision to spot hidden Vitamin and Mineral deficiencies before they escalate</a:t>
            </a:r>
            <a:endParaRPr sz="1050" b="0" i="0" u="none" dirty="0">
              <a:solidFill>
                <a:srgbClr val="CBD5E1"/>
              </a:solidFill>
              <a:latin typeface="Inter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85800" y="4664868"/>
            <a:ext cx="5370671" cy="2571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0" i="0" u="none">
                <a:solidFill>
                  <a:srgbClr val="F1F5F9"/>
                </a:solidFill>
                <a:latin typeface="Poppins SemiBold"/>
              </a:rPr>
              <a:t>OCR &amp; Document Parser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4979193"/>
            <a:ext cx="5114925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CBD5E1"/>
                </a:solidFill>
                <a:latin typeface="Inter"/>
              </a:rPr>
              <a:t>Image pre-processing pipeline extracting biomarker metrics from uploaded pathology reports.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91275" y="2840831"/>
            <a:ext cx="5370671" cy="2571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0" i="0" u="none">
                <a:solidFill>
                  <a:srgbClr val="F1F5F9"/>
                </a:solidFill>
                <a:latin typeface="Poppins SemiBold"/>
              </a:rPr>
              <a:t>Generative AI Conversational Agent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91275" y="3155156"/>
            <a:ext cx="5114925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CBD5E1"/>
                </a:solidFill>
                <a:latin typeface="Inter"/>
              </a:rPr>
              <a:t>Context-aware LLM engine providing dietary Q&amp;A, ingredient swaps, and meal guidance.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91275" y="4564856"/>
            <a:ext cx="5370671" cy="2571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0" i="0" u="none">
                <a:solidFill>
                  <a:srgbClr val="F1F5F9"/>
                </a:solidFill>
                <a:latin typeface="Poppins SemiBold"/>
              </a:rPr>
              <a:t>Secure Stack &amp; PWA Architecture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91275" y="4879181"/>
            <a:ext cx="5114925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CBD5E1"/>
                </a:solidFill>
                <a:latin typeface="Inter"/>
              </a:rPr>
              <a:t>Bcrypt password hashing, JWT bearer authorization, and PWA cross-device offline synchronization.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85800" y="2264568"/>
            <a:ext cx="419100" cy="419100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493716" y="2369343"/>
            <a:ext cx="1307008" cy="209550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85800" y="4188618"/>
            <a:ext cx="419100" cy="419100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356496" y="4293393"/>
            <a:ext cx="1444228" cy="209550"/>
          </a:xfrm>
          <a:prstGeom prst="rect">
            <a:avLst/>
          </a:prstGeom>
        </p:spPr>
      </p:pic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391275" y="2364581"/>
            <a:ext cx="419100" cy="419100"/>
          </a:xfrm>
          <a:prstGeom prst="rect">
            <a:avLst/>
          </a:prstGeom>
        </p:spPr>
      </p:pic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924752" y="2469356"/>
            <a:ext cx="1581447" cy="209550"/>
          </a:xfrm>
          <a:prstGeom prst="rect">
            <a:avLst/>
          </a:prstGeom>
        </p:spPr>
      </p:pic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391275" y="4088606"/>
            <a:ext cx="419100" cy="419100"/>
          </a:xfrm>
          <a:prstGeom prst="rect">
            <a:avLst/>
          </a:prstGeom>
        </p:spPr>
      </p:pic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513242" y="4193381"/>
            <a:ext cx="1992957" cy="209550"/>
          </a:xfrm>
          <a:prstGeom prst="rect">
            <a:avLst/>
          </a:prstGeom>
        </p:spPr>
      </p:pic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85812" y="2378868"/>
            <a:ext cx="219075" cy="190500"/>
          </a:xfrm>
          <a:prstGeom prst="rect">
            <a:avLst/>
          </a:prstGeom>
        </p:spPr>
      </p:pic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785812" y="4302918"/>
            <a:ext cx="219075" cy="190500"/>
          </a:xfrm>
          <a:prstGeom prst="rect">
            <a:avLst/>
          </a:prstGeom>
        </p:spPr>
      </p:pic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491287" y="2478881"/>
            <a:ext cx="219075" cy="190500"/>
          </a:xfrm>
          <a:prstGeom prst="rect">
            <a:avLst/>
          </a:prstGeom>
        </p:spPr>
      </p:pic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505575" y="4202906"/>
            <a:ext cx="190500" cy="190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4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775" y="390525"/>
            <a:ext cx="1526083" cy="2476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0300" y="2012156"/>
            <a:ext cx="5495925" cy="36195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5775" y="1797843"/>
            <a:ext cx="5495925" cy="111442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5775" y="3045618"/>
            <a:ext cx="5495925" cy="111442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5775" y="4293393"/>
            <a:ext cx="5495925" cy="9144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5775" y="6200775"/>
            <a:ext cx="11220450" cy="2667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85775" y="695325"/>
            <a:ext cx="11706225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sz="2400" b="1" i="0" u="none">
                <a:solidFill>
                  <a:srgbClr val="F8FAFC"/>
                </a:solidFill>
                <a:latin typeface="Poppins"/>
              </a:rPr>
              <a:t>Experience NutriAI </a:t>
            </a:r>
            <a:r>
              <a:rPr sz="2400" b="1" i="0" u="none">
                <a:solidFill>
                  <a:srgbClr val="10B981"/>
                </a:solidFill>
                <a:latin typeface="Poppins"/>
              </a:rPr>
              <a:t>Anywhere, Anytime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5775" y="1133475"/>
            <a:ext cx="11220450" cy="214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94A3B8"/>
                </a:solidFill>
                <a:latin typeface="Inter"/>
              </a:rPr>
              <a:t>Your Personal AI Dietitian is Just a Tap Away! 📱🚀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54236" y="452437"/>
            <a:ext cx="131564" cy="12382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952500" y="5550693"/>
            <a:ext cx="4800600" cy="1809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25" b="0" i="0" u="none">
                <a:solidFill>
                  <a:srgbClr val="FFFFFF"/>
                </a:solidFill>
                <a:latin typeface="Inter SemiBold"/>
              </a:rPr>
              <a:t>Try It Live Now on Vercel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1997868"/>
            <a:ext cx="4867275" cy="2571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0" i="0" u="none">
                <a:solidFill>
                  <a:srgbClr val="F1F5F9"/>
                </a:solidFill>
                <a:latin typeface="Poppins SemiBold"/>
              </a:rPr>
              <a:t>Installable PWA Web App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2312193"/>
            <a:ext cx="5095875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CBD5E1"/>
                </a:solidFill>
                <a:latin typeface="Inter"/>
              </a:rPr>
              <a:t>Works seamlessly across phone, tablet, and desktop — with offline synchronization.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0125" y="3245643"/>
            <a:ext cx="4781550" cy="2571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0" i="0" u="none">
                <a:solidFill>
                  <a:srgbClr val="F1F5F9"/>
                </a:solidFill>
                <a:latin typeface="Poppins SemiBold"/>
              </a:rPr>
              <a:t>16 Regional Languages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3559968"/>
            <a:ext cx="5095875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CBD5E1"/>
                </a:solidFill>
                <a:latin typeface="Inter"/>
              </a:rPr>
              <a:t>Complete UI dictionary support ensuring comfortable tracking for diverse populations.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2500" y="4493418"/>
            <a:ext cx="4829175" cy="2571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0" i="0" u="none">
                <a:solidFill>
                  <a:srgbClr val="F1F5F9"/>
                </a:solidFill>
                <a:latin typeface="Poppins SemiBold"/>
              </a:rPr>
              <a:t>Exportable PDF Health Summary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4807743"/>
            <a:ext cx="5095875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CBD5E1"/>
                </a:solidFill>
                <a:latin typeface="Inter"/>
              </a:rPr>
              <a:t>Share one-click diagnostic &amp; meal report PDFs with your physician or family.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14375" y="5569743"/>
            <a:ext cx="142875" cy="142875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85800" y="2040731"/>
            <a:ext cx="133350" cy="171450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85800" y="3288506"/>
            <a:ext cx="219075" cy="171450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85800" y="4536281"/>
            <a:ext cx="171450" cy="171450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E0ABBD4D-D8C9-0DA9-7D6A-50F231F8BD60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181725" y="1903552"/>
            <a:ext cx="5607029" cy="3954322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92C4EB74-73AB-B6F2-13FE-0B586A7AF295}"/>
              </a:ext>
            </a:extLst>
          </p:cNvPr>
          <p:cNvPicPr>
            <a:picLocks/>
          </p:cNvPicPr>
          <p:nvPr/>
        </p:nvPicPr>
        <p:blipFill rotWithShape="1">
          <a:blip r:embed="rId15"/>
          <a:srcRect l="6000" t="4699" r="4025" b="4156"/>
          <a:stretch/>
        </p:blipFill>
        <p:spPr>
          <a:xfrm rot="180000">
            <a:off x="8831228" y="2525666"/>
            <a:ext cx="717980" cy="771201"/>
          </a:xfrm>
          <a:prstGeom prst="round2Same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4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210016"/>
            <a:ext cx="12192000" cy="7068016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72917" y="1462087"/>
            <a:ext cx="2646164" cy="2476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5775" y="6200775"/>
            <a:ext cx="11220450" cy="2667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095500" y="1900237"/>
            <a:ext cx="800100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3600" b="0" i="0" u="none">
                <a:solidFill>
                  <a:srgbClr val="FFFFFF"/>
                </a:solidFill>
                <a:latin typeface="Poppins ExtraBold"/>
              </a:rPr>
              <a:t>Start Your Journey to </a:t>
            </a:r>
            <a:r>
              <a:rPr sz="3600" b="0" i="0" u="none">
                <a:solidFill>
                  <a:srgbClr val="10B981"/>
                </a:solidFill>
                <a:latin typeface="Poppins ExtraBold"/>
              </a:rPr>
              <a:t>Optimal Health Today!</a:t>
            </a:r>
            <a:r>
              <a:rPr sz="3600" b="0" i="0" u="none">
                <a:solidFill>
                  <a:srgbClr val="FFFFFF"/>
                </a:solidFill>
                <a:latin typeface="Poppins ExtraBold"/>
              </a:rPr>
              <a:t> 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0" y="3424237"/>
            <a:ext cx="762000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250"/>
              </a:lnSpc>
            </a:pPr>
            <a:r>
              <a:rPr sz="1500" b="0" i="0" u="none">
                <a:solidFill>
                  <a:srgbClr val="CBD5E1"/>
                </a:solidFill>
                <a:latin typeface="Inter"/>
              </a:rPr>
              <a:t>Scan, Track, &amp; Nourish with NutriAI.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914900" y="4224337"/>
            <a:ext cx="2609850" cy="2000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50" b="0" i="0" u="none" dirty="0">
                <a:solidFill>
                  <a:srgbClr val="FFFFFF"/>
                </a:solidFill>
                <a:latin typeface="Inter SemiBold"/>
              </a:rPr>
              <a:t>Launch Live </a:t>
            </a:r>
            <a:r>
              <a:rPr sz="1350" b="0" i="0" u="none" dirty="0" err="1">
                <a:solidFill>
                  <a:srgbClr val="FFFFFF"/>
                </a:solidFill>
                <a:latin typeface="Inter SemiBold"/>
              </a:rPr>
              <a:t>NutriAI</a:t>
            </a:r>
            <a:r>
              <a:rPr sz="1350" b="0" i="0" u="none" dirty="0">
                <a:solidFill>
                  <a:srgbClr val="FFFFFF"/>
                </a:solidFill>
                <a:latin typeface="Inter SemiBold"/>
              </a:rPr>
              <a:t> Application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0" y="4938712"/>
            <a:ext cx="76200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 i="0" u="none">
                <a:solidFill>
                  <a:srgbClr val="64748B"/>
                </a:solidFill>
                <a:latin typeface="Inter"/>
              </a:rPr>
              <a:t>Thank You!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49118" y="1524000"/>
            <a:ext cx="131564" cy="12382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67250" y="4238625"/>
            <a:ext cx="152400" cy="17145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466</TotalTime>
  <Words>740</Words>
  <Application>Microsoft Office PowerPoint</Application>
  <PresentationFormat>Widescreen</PresentationFormat>
  <Paragraphs>80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9" baseType="lpstr">
      <vt:lpstr>Arial</vt:lpstr>
      <vt:lpstr>Calibri</vt:lpstr>
      <vt:lpstr>Inter</vt:lpstr>
      <vt:lpstr>Inter Medium</vt:lpstr>
      <vt:lpstr>Inter SemiBold</vt:lpstr>
      <vt:lpstr>Outfit</vt:lpstr>
      <vt:lpstr>Plus Jakarta Sans</vt:lpstr>
      <vt:lpstr>Plus Jakarta Sans SemiBold</vt:lpstr>
      <vt:lpstr>Poppins</vt:lpstr>
      <vt:lpstr>Poppins ExtraBold</vt:lpstr>
      <vt:lpstr>Poppins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Ayush Mishra</cp:lastModifiedBy>
  <cp:revision>14</cp:revision>
  <dcterms:created xsi:type="dcterms:W3CDTF">2013-01-27T09:14:16Z</dcterms:created>
  <dcterms:modified xsi:type="dcterms:W3CDTF">2026-08-17T21:28:08Z</dcterms:modified>
  <cp:category/>
</cp:coreProperties>
</file>